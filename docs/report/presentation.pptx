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problem. This is a simulation-only system that decides what to do with a recovered part: reuse, repair, or recycle.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three words early. A worn part comes in; the system decides what to do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each box as you name it. Three layers = Stage 1 vision, Stage 2 decision, Stage 3 robotics.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exact outlines? Grad-CAM needs only simple labels, much cheaper, and enough to locate the defect. ~88% accuracy on the demo set, trained in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88% is on a synthetic demo set that proves the pipeline. For headline numbers, train on NEU-DET or casting.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explainability: an unexplained RECYCLE is hard to trust. Thresholds are tunable.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live, open the dashboard and pick a sample to show the badge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ROS/Gazebo run on Linux, packaged in Docker. Verified structurally; runs end-to-end in the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tool chosen to be lightweight, free, explainable,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complete, reproducible, open source. Offer to dive into any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 Inspection Digital Twin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+ ML for reuse / repair / recycle decisions in circular manufacturing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48056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448056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1C4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23360" y="448056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Ashkan Aghamoali  ·  Project walkthrough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F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we do with a recovered part?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manufacturing keeps parts and materials in service instead of scrapping them.</a:t>
            </a:r>
            <a:endParaRPr lang="en-US" sz="17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triage: every returned part must be inspected and routed.</a:t>
            </a:r>
            <a:endParaRPr lang="en-US" sz="17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by hand it is slow, subjective and inconsistent.</a:t>
            </a:r>
            <a:endParaRPr lang="en-US" sz="17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automate the decision — reuse, repair, or recycle — end to end, in simulation.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0" y="173736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2F7F0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20116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680960" y="3383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paths, one automated decision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26680" y="434340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0" y="434340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1C4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95560" y="434340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F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pipeline, four parts, three build stages</a:t>
            </a:r>
            <a:endParaRPr lang="en-US" sz="3000" dirty="0"/>
          </a:p>
        </p:txBody>
      </p:sp>
      <p:pic>
        <p:nvPicPr>
          <p:cNvPr id="4" name="Image 0" descr="/Users/serpico72/Mine/defect-inspection-digital-twin/docs/report/assets/architecture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10149840" cy="30723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 image flows left to right: the camera feeds an image, the CV model finds and localizes the defect, the grader turns that into a decision, and the digital twin records every part.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F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COMPUTER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Seeing — and locating — the defect</a:t>
            </a:r>
            <a:endParaRPr lang="en-US" sz="3000" dirty="0"/>
          </a:p>
        </p:txBody>
      </p:sp>
      <p:pic>
        <p:nvPicPr>
          <p:cNvPr id="4" name="Image 0" descr="/Users/serpico72/Mine/defect-inspection-digital-twin/docs/report/assets/stage1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22585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404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</a:rPr>
              <a:t>original  |  Grad-CAM heatmap  |  overlay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89520" y="164592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PyTorch ResNet, fine-tuned on surface-defect images.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part: defect type, a confidence, and a heatmap of where the defect is.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gives the location from simple image labels — no pixel masks needed.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 defect-area %, used by the next stage.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F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separates the defect classes</a:t>
            </a:r>
            <a:endParaRPr lang="en-US" sz="3000" dirty="0"/>
          </a:p>
        </p:txBody>
      </p:sp>
      <p:pic>
        <p:nvPicPr>
          <p:cNvPr id="4" name="Image 0" descr="/Users/serpico72/Mine/defect-inspection-digital-twin/docs/report/assets/stage1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38328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7373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2F7F0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0" y="18745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~88%
</a:t>
            </a:r>
            <a:pPr algn="ctr" indent="0" marL="0">
              <a:buNone/>
            </a:pPr>
            <a:r>
              <a:rPr lang="en-US" sz="1400" dirty="0">
                <a:solidFill>
                  <a:srgbClr val="1B2A24"/>
                </a:solidFill>
              </a:rPr>
              <a:t>test accuracy (demo set)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38160" y="17373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2F7F0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8745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min
</a:t>
            </a:r>
            <a:pPr algn="ctr" indent="0" marL="0">
              <a:buNone/>
            </a:pPr>
            <a:r>
              <a:rPr lang="en-US" sz="1400" dirty="0">
                <a:solidFill>
                  <a:srgbClr val="1B2A24"/>
                </a:solidFill>
              </a:rPr>
              <a:t>to fine-tune on CPU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572000" y="35661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diagonal = clean separation between good / scratch / crack.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backbone + transfer learning → fast, reproducible runs.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 trains on real datasets (NEU-DET, casting) for real numbers.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F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defect to recovery decision</a:t>
            </a:r>
            <a:endParaRPr lang="en-US" sz="3000" dirty="0"/>
          </a:p>
        </p:txBody>
      </p:sp>
      <p:pic>
        <p:nvPicPr>
          <p:cNvPr id="4" name="Image 0" descr="/Users/serpico72/Mine/defect-inspection-digital-twin/docs/report/assets/stage2_grading_b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8412480" cy="2002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4048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condition score (0–100) from defect type + how much surface it covers.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 → low → RECYCLE.  Scratch → mid → REPAIR.  Clean → high → REUSE.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transparent rule, not a black box — so every decision can be explained and audited.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drops near a threshold, where the call is genuinely less certain.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F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DIGITAL TWIN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 record of every part</a:t>
            </a:r>
            <a:endParaRPr lang="en-US" sz="3000" dirty="0"/>
          </a:p>
        </p:txBody>
      </p:sp>
      <p:pic>
        <p:nvPicPr>
          <p:cNvPr id="4" name="Image 0" descr="/Users/serpico72/Mine/defect-inspection-digital-twin/docs/report/assets/stage2_decision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29768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173736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inspected part is appended to the digital twin: score, decision, timestamp.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Streamlit dashboard shows the part, the overlay, the decision badge, and live stats.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‘recovery rate’ = share of parts kept in service (reuse + repair).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212080" y="4297680"/>
            <a:ext cx="6309360" cy="1280160"/>
          </a:xfrm>
          <a:prstGeom prst="roundRect">
            <a:avLst>
              <a:gd name="adj" fmla="val 7143"/>
            </a:avLst>
          </a:prstGeom>
          <a:solidFill>
            <a:srgbClr val="16241D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42976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  </a:t>
            </a:r>
            <a:pPr indent="0" marL="0">
              <a:buNone/>
            </a:pPr>
            <a:r>
              <a:rPr lang="en-US" sz="1600" dirty="0">
                <a:solidFill>
                  <a:srgbClr val="E6EFE4"/>
                </a:solidFill>
              </a:rPr>
              <a:t>recovery rate over 24 demo parts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F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ROBOTICS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Wrapped in a ROS 2 node graph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6FA5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Camera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17373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737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Inspection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CV + 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0" y="17373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C28A2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737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Decision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grading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41080" y="17373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89720" y="17373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1737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Digital Twin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job is its own node, passing typed messages down the line.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Gazebo scene (table + fixed camera) and RViz markers — green / amber / red.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reuse the exact Stage 1 model and Stage 2 grader — no duplicated logic.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Linux; shipped as a Docker image for a headless end-to-end demo.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F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—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0"/>
          </a:solidFill>
          <a:ln w="12700">
            <a:solidFill>
              <a:srgbClr val="DCE7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 + ResNet
</a:t>
            </a:r>
            <a:pPr indent="0" marL="0">
              <a:buNone/>
            </a:pPr>
            <a:r>
              <a:rPr lang="en-US" sz="1300" dirty="0">
                <a:solidFill>
                  <a:srgbClr val="1B2A24"/>
                </a:solidFill>
              </a:rPr>
              <a:t>Pretrained → fast, lightweight fine-tuning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0"/>
          </a:solidFill>
          <a:ln w="12700">
            <a:solidFill>
              <a:srgbClr val="DCE7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7373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Grad-CAM
</a:t>
            </a:r>
            <a:pPr indent="0" marL="0">
              <a:buNone/>
            </a:pPr>
            <a:r>
              <a:rPr lang="en-US" sz="1300" dirty="0">
                <a:solidFill>
                  <a:srgbClr val="1B2A24"/>
                </a:solidFill>
              </a:rPr>
              <a:t>Localizes defects without costly pixel labels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0"/>
          </a:solidFill>
          <a:ln w="12700">
            <a:solidFill>
              <a:srgbClr val="DCE7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5468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grading
</a:t>
            </a:r>
            <a:pPr indent="0" marL="0">
              <a:buNone/>
            </a:pPr>
            <a:r>
              <a:rPr lang="en-US" sz="1300" dirty="0">
                <a:solidFill>
                  <a:srgbClr val="1B2A24"/>
                </a:solidFill>
              </a:rPr>
              <a:t>Explainable, auditable, tunable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0"/>
          </a:solidFill>
          <a:ln w="12700">
            <a:solidFill>
              <a:srgbClr val="DCE7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15468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
</a:t>
            </a:r>
            <a:pPr indent="0" marL="0">
              <a:buNone/>
            </a:pPr>
            <a:r>
              <a:rPr lang="en-US" sz="1300" dirty="0">
                <a:solidFill>
                  <a:srgbClr val="1B2A24"/>
                </a:solidFill>
              </a:rPr>
              <a:t>Interactive dashboard from a Python script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0"/>
          </a:solidFill>
          <a:ln w="12700">
            <a:solidFill>
              <a:srgbClr val="DCE7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5720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 2 + Gazebo
</a:t>
            </a:r>
            <a:pPr indent="0" marL="0">
              <a:buNone/>
            </a:pPr>
            <a:r>
              <a:rPr lang="en-US" sz="1300" dirty="0">
                <a:solidFill>
                  <a:srgbClr val="1B2A24"/>
                </a:solidFill>
              </a:rPr>
              <a:t>Industry standard; swappable, isolated nodes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45720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0"/>
          </a:solidFill>
          <a:ln w="12700">
            <a:solidFill>
              <a:srgbClr val="DCE7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5720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free / open
</a:t>
            </a:r>
            <a:pPr indent="0" marL="0">
              <a:buNone/>
            </a:pPr>
            <a:r>
              <a:rPr lang="en-US" sz="1300" dirty="0">
                <a:solidFill>
                  <a:srgbClr val="1B2A24"/>
                </a:solidFill>
              </a:rPr>
              <a:t>Reproducible, no paid services anywhere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runnable demo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ML automating the reuse / repair / recycle decision for circular manufacturing — three independent layers, fully reproducible, all open source.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github.com/iamashkan/defect-inspection-digital-twin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530352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1C4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530352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2026-06-12T21:37:15Z</dcterms:created>
  <dcterms:modified xsi:type="dcterms:W3CDTF">2026-06-12T21:37:15Z</dcterms:modified>
</cp:coreProperties>
</file>